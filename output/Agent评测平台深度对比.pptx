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4" name="Shape 2"/>
          <p:cNvSpPr/>
          <p:nvPr/>
        </p:nvSpPr>
        <p:spPr>
          <a:xfrm>
            <a:off x="3566160" y="914400"/>
            <a:ext cx="2011680" cy="2011680"/>
          </a:xfrm>
          <a:prstGeom prst="ellipse">
            <a:avLst/>
          </a:prstGeom>
          <a:solidFill>
            <a:srgbClr val="5E6AD2">
              <a:alpha val="9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2344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评测平台深度对比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平台 × 5 范式 · 横向对比、场景选型、空白地带与市场格局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News Research · 2026/05/22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全景概览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活跃评测平台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51760" y="1188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65176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评测范式分类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关键空白地带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1188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04088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场景选型推荐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92024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377440"/>
            <a:ext cx="23317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Code-based Eval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83480" y="2377440"/>
            <a:ext cx="1645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Eval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21945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Agent-as-Judge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2834640"/>
            <a:ext cx="192024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278892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Eval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137160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可观测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2834640"/>
            <a:ext cx="137160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集成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2834640"/>
            <a:ext cx="8229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2834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幻觉检测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91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仿真测试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覆盖率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39776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23160" y="3995928"/>
            <a:ext cx="5029200" cy="91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34" name="Shape 32"/>
          <p:cNvSpPr/>
          <p:nvPr/>
        </p:nvSpPr>
        <p:spPr>
          <a:xfrm>
            <a:off x="2423160" y="3995928"/>
            <a:ext cx="5029200" cy="91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7589520" y="39776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" y="412394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Code-based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23160" y="4142232"/>
            <a:ext cx="5029200" cy="91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4142232"/>
            <a:ext cx="447598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7589520" y="412394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427024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Eval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23160" y="4288536"/>
            <a:ext cx="5029200" cy="91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2" name="Shape 40"/>
          <p:cNvSpPr/>
          <p:nvPr/>
        </p:nvSpPr>
        <p:spPr>
          <a:xfrm>
            <a:off x="2423160" y="4288536"/>
            <a:ext cx="5029200" cy="9144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43" name="Text 41"/>
          <p:cNvSpPr/>
          <p:nvPr/>
        </p:nvSpPr>
        <p:spPr>
          <a:xfrm>
            <a:off x="7589520" y="42702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A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44165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Agent-as-Judge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23160" y="4434840"/>
            <a:ext cx="5029200" cy="91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6" name="Shape 44"/>
          <p:cNvSpPr/>
          <p:nvPr/>
        </p:nvSpPr>
        <p:spPr>
          <a:xfrm>
            <a:off x="2423160" y="4434840"/>
            <a:ext cx="1659636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7589520" y="441655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" y="456285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23160" y="4581144"/>
            <a:ext cx="5029200" cy="91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50" name="Shape 48"/>
          <p:cNvSpPr/>
          <p:nvPr/>
        </p:nvSpPr>
        <p:spPr>
          <a:xfrm>
            <a:off x="2423160" y="4581144"/>
            <a:ext cx="553212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7589520" y="456285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463040"/>
            <a:ext cx="914400" cy="914400"/>
          </a:xfrm>
          <a:prstGeom prst="ellipse">
            <a:avLst/>
          </a:prstGeom>
          <a:solidFill>
            <a:srgbClr val="5E6AD2">
              <a:alpha val="8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6002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五大评测范式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评判主体与自动化程度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822960"/>
            <a:ext cx="4114800" cy="1463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822960"/>
            <a:ext cx="54864" cy="146304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LLM-as-Judge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325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用另一个 LLM 对输出打分。核心问题：偏见（Position/Verbosity/Self-enhancement）和推理成本。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DeepEval G-Eval · Galileo Luna-2 · Braintrust Loop AI · LangSmith Polly AI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822960"/>
            <a:ext cx="4114800" cy="1463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1"/>
          <p:cNvSpPr/>
          <p:nvPr/>
        </p:nvSpPr>
        <p:spPr>
          <a:xfrm>
            <a:off x="3200400" y="822960"/>
            <a:ext cx="54864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88620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Code-based / Deterministic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83280" y="1325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通过代码规则（正则匹配、JSON Schema、DAG 流程）进行确定性评判。零随机性、零 API 成本。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DeepEval DAG · Braintrust Scorer · LangSmith 自定义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822960"/>
            <a:ext cx="4114800" cy="1463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126480" y="822960"/>
            <a:ext cx="54864" cy="1463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81228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Eval（人工评测）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09360" y="1325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人类专家判定。精度最高但成本最高、扩展性最差。所有平台都支持，但深度差异大。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0936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Braintrust 人工队列 · Galileo Enterprise · Langfuse 标注队列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554480" y="2468880"/>
            <a:ext cx="4114800" cy="1463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Shape 23"/>
          <p:cNvSpPr/>
          <p:nvPr/>
        </p:nvSpPr>
        <p:spPr>
          <a:xfrm>
            <a:off x="1554480" y="24688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17373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🕵️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224028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Agent-as-Judge（最大空白）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737360" y="2971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专用 Agent 评估全链路行为（规划、工具调用、中间决策）。6/9 平台完全缺失。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73736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Braintrust Loop AI（唯一完整）· DeepEval（部分）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480560" y="2468880"/>
            <a:ext cx="4114800" cy="1463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Shape 29"/>
          <p:cNvSpPr/>
          <p:nvPr/>
        </p:nvSpPr>
        <p:spPr>
          <a:xfrm>
            <a:off x="4480560" y="2468880"/>
            <a:ext cx="54864" cy="1463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3" name="Text 30"/>
          <p:cNvSpPr/>
          <p:nvPr/>
        </p:nvSpPr>
        <p:spPr>
          <a:xfrm>
            <a:off x="46634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516636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Sandbox Eval（LangSmith 护城河）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663440" y="2971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在隔离环境中执行 Agent 操作并评估结果。LangSmith 唯一提供完整 Docker 沙箱。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66344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Sandbox（唯一）· Maxim 仿真引擎（近似）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74320" y="4160520"/>
            <a:ext cx="859536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关键发现：无平台覆盖全部 5 范式。Braintrust 和 DeepEval 最完整（4/5），均缺 Sandbox。Agent-as-Judge 是最大空白（67% 平台缺失）。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范式覆盖矩阵——9 平台 × 5 范式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188720"/>
                <a:gridCol w="1097280"/>
                <a:gridCol w="1371600"/>
                <a:gridCol w="137160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LLM-as-Judge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Code-based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Eval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Agent-as-Judge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覆盖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W&amp;B Weave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基础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基础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基础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Braintrust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 Loop AI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自定义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队列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 闭环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4/5 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Arize Phoenix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多维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自定义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标注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LangSmith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Polly AI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自定义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标注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C4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 唯一沙箱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4/5 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Comet Opik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Judge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ROUGE/BLEU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UI 标注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DeepEval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 40+ 指标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 DAG 管道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CA 平台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TaskComp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4/5 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 AI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预构建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自定义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队列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Langfuse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内置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Python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UI 队列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Galileo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 Luna-2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Enterprise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Insights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深入  ⭐⭐ 标准  ⭐ 基础  ✗ 不支持  ★ 最完整平台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无平台覆盖全部 5 范式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5468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Agent-as-Judge 6/9 缺失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3504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Sandbox 是 LangSmith 独有护城河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Galileo 走专有模型差异化路线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1546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开源阵营：通用可观测 vs 评估专精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平台横向对比——开源·定价·核心差异化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1005840"/>
                <a:gridCol w="1097280"/>
                <a:gridCol w="1188720"/>
                <a:gridCol w="1188720"/>
                <a:gridCol w="24688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许可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自托管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免费层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起价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核心差异化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W&amp;B Weave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闭源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100GB 免费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~$50/用户/月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 ML → LLM 延伸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Braintrust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闭源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1GB + 10k scores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$249/月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 唯一完整 Agent-as-Judge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Arize Phoenix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2.0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Phoenix 免费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完全免费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 按量计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OTel 可观测 + Drift/Embedding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LangSmith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闭源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开发者免费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~$99/月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C4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 唯一 Docker 沙箱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Comet Opik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2.0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Docker/K8s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 traces/月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~$999/月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开源高吞吐 (40M trace/day)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DeepEval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2.0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DE 免费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免费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~$299/月 (CA)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 评估即代码 40+ 指标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 AI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闭源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In-VPC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免费入门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按座位/用量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 唯一 Simulation 引擎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Langfuse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MIT/EE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完全免费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有限免费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~$59/月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极致性价比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C8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Galileo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闭源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有限免费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0B3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按 token 计费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Luna-2 专有 SLM +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开源阵营：Arize Phoenix · Comet Opik · DeepEval · Langfuse（Apache 2.0 / MIT）  |  闭源阵营各有不可替代的独特范式深度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场景选型推荐（1/2）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77240"/>
            <a:ext cx="54864" cy="9144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886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CI/CD + 大量指标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1097280" cy="274320"/>
          </a:xfrm>
          <a:prstGeom prst="rect">
            <a:avLst/>
          </a:prstGeom>
          <a:solidFill>
            <a:srgbClr val="5E6AD2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DeepEval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26280" y="914400"/>
            <a:ext cx="914400" cy="27432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备选 Braintrust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2801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预构建指标 + DAG 管道 + Pytest 风格天然适配 CI/CD。Apache 2.0 开源零成本集成。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828800"/>
            <a:ext cx="54864" cy="9144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LangChain 重度用户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965960"/>
            <a:ext cx="1097280" cy="274320"/>
          </a:xfrm>
          <a:prstGeom prst="rect">
            <a:avLst/>
          </a:prstGeom>
          <a:solidFill>
            <a:srgbClr val="5E6AD2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LangSmith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26280" y="1965960"/>
            <a:ext cx="914400" cy="27432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备选 Braintrust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331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 LangChain/LangGraph 集成 + 步骤级评分 + 唯一 Docker 沙箱。Agent-as-Judge 需 Braintrust 补充。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859536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880360"/>
            <a:ext cx="54864" cy="9144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自托管 + 数据主权 + 免费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1097280" cy="274320"/>
          </a:xfrm>
          <a:prstGeom prst="rect">
            <a:avLst/>
          </a:prstGeom>
          <a:solidFill>
            <a:srgbClr val="5E6AD2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Langfuse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26280" y="3017520"/>
            <a:ext cx="914400" cy="27432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备选 Comet Opik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3383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开源，自托管完全免费，SaaS 仅 $59/月。OTel 原生 + Trace/评估/成本追踪四合一。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931920"/>
            <a:ext cx="54864" cy="9144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" y="4041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闭环 + 高产出团队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1097280" cy="274320"/>
          </a:xfrm>
          <a:prstGeom prst="rect">
            <a:avLst/>
          </a:prstGeom>
          <a:solidFill>
            <a:srgbClr val="5E6AD2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Braintrust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唯一完整 Agent-as-Judge（Loop AI）。自动从生产 trace 生成测试集→评估→分析→修复闭环。$249/月。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场景选型推荐（2/2）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77240"/>
            <a:ext cx="54864" cy="6858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幻觉检测 + 生产安全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886968"/>
            <a:ext cx="1005840" cy="256032"/>
          </a:xfrm>
          <a:prstGeom prst="rect">
            <a:avLst/>
          </a:prstGeom>
          <a:solidFill>
            <a:srgbClr val="5E6AD2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886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Galileo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Luna-2 蒸馏 SLM（$0.02/1M tokens, 152ms 延迟）+ Galileo Protect 运行时拦截。Code-based 空白。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859536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581912"/>
            <a:ext cx="54864" cy="6858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6733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仿真测试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1691640"/>
            <a:ext cx="1005840" cy="256032"/>
          </a:xfrm>
          <a:prstGeom prst="rect">
            <a:avLst/>
          </a:prstGeom>
          <a:solidFill>
            <a:srgbClr val="5E6AD2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1691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Maxim AI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19933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 Simulation 引擎，在安全环境模拟 Agent 行为后再投产。In-VPC 部署满足数据敏感场景。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86584"/>
            <a:ext cx="859536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2386584"/>
            <a:ext cx="54864" cy="6858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478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已有 W&amp;B 基础设施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2496312"/>
            <a:ext cx="1005840" cy="256032"/>
          </a:xfrm>
          <a:prstGeom prst="rect">
            <a:avLst/>
          </a:prstGeom>
          <a:solidFill>
            <a:srgbClr val="5E6AD2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2496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W&amp;B Weave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27980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ML + LLM 统一管理。基础三范式覆盖。适合「够用就好」，迁移成本最低。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191256"/>
            <a:ext cx="859536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191256"/>
            <a:ext cx="54864" cy="6858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2826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OTel 生态 + Embedding/Drift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8960" y="3300984"/>
            <a:ext cx="1005840" cy="256032"/>
          </a:xfrm>
          <a:prstGeom prst="rect">
            <a:avLst/>
          </a:prstGeom>
          <a:solidFill>
            <a:srgbClr val="5E6AD2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0" y="3300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Arize Phoenix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6027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原生 ML 可观测。Embedding 分析 + Drift 检测全市场最强。Phoenix 开源免费。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995928"/>
            <a:ext cx="859536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3995928"/>
            <a:ext cx="54864" cy="6858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87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预算敏感 + 完整方案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0" y="4105656"/>
            <a:ext cx="1005840" cy="256032"/>
          </a:xfrm>
          <a:prstGeom prst="rect">
            <a:avLst/>
          </a:prstGeom>
          <a:solidFill>
            <a:srgbClr val="5E6AD2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108960" y="41056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Langfuse 自托管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51960" y="4105656"/>
            <a:ext cx="914400" cy="256032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38" name="Text 36"/>
          <p:cNvSpPr/>
          <p:nvPr/>
        </p:nvSpPr>
        <p:spPr>
          <a:xfrm>
            <a:off x="4251960" y="4105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备选 DeepEval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4074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自托管 $0 / SaaS $59/月。Trace + LLM-Judge + Human 标注 + 成本追踪四合一。DeepEval 完全免费备选。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五大关键空白——市场潜力与填补难度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7863840" cy="8046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Agent-as-Judge × 通用平台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207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6/9 平台（67%）完全空白。仅 Braintrust 有完整闭环。预期 1-2 年填补。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0" y="960120"/>
            <a:ext cx="731520" cy="22860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960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潜力高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06640" y="960120"/>
            <a:ext cx="731520" cy="22860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960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难度中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7863840" cy="8046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Sandbox × 大众平台（垄断空白）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048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 LangSmith 提供 Docker 沙箱。类比早期 CI 在裸机运行测试→后来容器化成为标配。预期 2-3 年。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0" y="1801368"/>
            <a:ext cx="731520" cy="22860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801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潜力高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06640" y="1801368"/>
            <a:ext cx="731520" cy="22860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801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难度高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505456"/>
            <a:ext cx="7863840" cy="8046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Code-based 缺失（Galileo 专有路线）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889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Galileo 唯一不支持 Code-based 的平台。Luna-2 低成本弥补，但精确匹配等场景仍有缺陷。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0" y="2642616"/>
            <a:ext cx="731520" cy="228600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6426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潜力低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06640" y="2642616"/>
            <a:ext cx="731520" cy="228600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26426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难度低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346704"/>
            <a:ext cx="7863840" cy="8046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51560" y="34198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+ Sandbox 组合（交汇空白）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3730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 有 Simulation 无沙箱，LangSmith 有沙箱无 Simulation。黄金组合：隔离沙箱中运行仿真测试。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0" y="3483864"/>
            <a:ext cx="731520" cy="22860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34838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潜力中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6640" y="3483864"/>
            <a:ext cx="731520" cy="22860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34838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难度高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187952"/>
            <a:ext cx="7863840" cy="8046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51560" y="4261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Agent-as-Judge + OTel 原生集成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原生平台（Arize/Opik/Langfuse）均无 Agent-as-Judge。理想方案：Agent trace→OTel→Agent-Judge 评估 span tree。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0" y="4325112"/>
            <a:ext cx="731520" cy="22860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43251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潜力中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406640" y="4325112"/>
            <a:ext cx="731520" cy="22860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43251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难度中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7274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格局洞察：开源阵营分化为「通用可观测」和「评估专精」两条路线。闭源专精玩家各有不可替代性。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为什么每个 AI 团队都该关注 Agent 评测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91440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正在从「对话机器人」进化为「自主执行者」。当 Agent 开始操作数据库、发 HTTP 请求、写文件、调用内部 API，评估就不能再只看最终输出——你需要全过程验证。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评测不再是「跑个 benchmark」的事，而是生产基础设施。就像 CI/CD 测试从可选变成标配，Agent 评测也将成为每个 AI 工程团队的基本能力。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对中国 AI 团队尤其关键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国内 Agent 生态缺少 LangSmith 级别的沙箱平台——这是基础设施级空缺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900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开源方案（Langfuse/DeepEval）可零成本自托管，规避数据出境的合规风险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826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Agent-as-Judge 空白意味着巨大创新空间——比做第 10 个 LLM 更有价值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5753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选对平台不只看范式数量，更要看「独特范式深度」——沙箱、Agent-Judge、专有评估模型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核心判断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3159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无平台覆盖全部 5 范式，意味着当前市场仍处于早期。未来 1-2 年最可能发生的变化：(1) 可观测平台收购评估专精团队；(2) Sandbox 从 LangSmith 的护城河变成全行业标配；(3) Agent-as-Judge 从稀缺能力变成必备功能。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参考文献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调研产出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3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T1 范式分类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1188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paradigms.md — 5 范式定义、偏见问题、平台映射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3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T1 维度矩阵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1463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dimensions.md — 4 维度（单步/多步、结果/轨迹、功能/安全/效率/成本、离线/在线）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3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T1 沙箱分析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sandbox.md — 3 层级隔离机制、LangSmith/Anthropic/OSWorld 方案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3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T1 平台-范式映射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platforms-paradigm-mapping.md — 9 平台 × 5 范式映射 + 差距分析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3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T2 对比总表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2286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comparison-table.md — 10 平台横向对比全维度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3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T2 平台详析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2560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platforms/ — 10 平台每平台详细分析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3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T3 综合对比分析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comprehensive-analysis.md — 本报告完整数据源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A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关键论文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Zheng et al., "Judging LLM-as-a-Judge with MT-Bench and Chatbot Arena", NeurIPS 2023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9136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Liu et al., "G-Eval: NLG Evaluation using GPT-4 with Better Human Alignment", EMNLP 2023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1696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AgentBench: Evaluating LLMs as Agents, ICLR 2024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4256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GAIA: A General AI Assistant Benchmark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681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WebArena: A Realistic Web Environment for Building Autonomous Agents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所有数据基于 T1-T3 调研产出（截至 2026-05-22）。定价可能随各平台政策变化。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评测平台深度对比</dc:title>
  <dc:subject>PptxGenJS Presentation</dc:subject>
  <dc:creator>AI News Research</dc:creator>
  <cp:lastModifiedBy>AI News Research</cp:lastModifiedBy>
  <cp:revision>1</cp:revision>
  <dcterms:created xsi:type="dcterms:W3CDTF">2026-05-23T02:45:40Z</dcterms:created>
  <dcterms:modified xsi:type="dcterms:W3CDTF">2026-05-23T02:45:40Z</dcterms:modified>
</cp:coreProperties>
</file>